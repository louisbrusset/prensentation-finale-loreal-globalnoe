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F697E1-F4A6-4975-8E38-F4C7FD08C3CD}" v="10" dt="2026-07-03T11:41:15.6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RCIER Gustave" userId="b870b7d8-8c88-43ba-bac1-45b4f49582fe" providerId="ADAL" clId="{E62D84E9-A8EA-4AFB-A360-AB768C492C07}"/>
    <pc:docChg chg="modSld">
      <pc:chgData name="MERCIER Gustave" userId="b870b7d8-8c88-43ba-bac1-45b4f49582fe" providerId="ADAL" clId="{E62D84E9-A8EA-4AFB-A360-AB768C492C07}" dt="2026-07-03T11:41:15.638" v="9"/>
      <pc:docMkLst>
        <pc:docMk/>
      </pc:docMkLst>
      <pc:sldChg chg="modTransition">
        <pc:chgData name="MERCIER Gustave" userId="b870b7d8-8c88-43ba-bac1-45b4f49582fe" providerId="ADAL" clId="{E62D84E9-A8EA-4AFB-A360-AB768C492C07}" dt="2026-07-03T11:41:15.638" v="9"/>
        <pc:sldMkLst>
          <pc:docMk/>
          <pc:sldMk cId="1449822476" sldId="256"/>
        </pc:sldMkLst>
      </pc:sldChg>
      <pc:sldChg chg="modTransition">
        <pc:chgData name="MERCIER Gustave" userId="b870b7d8-8c88-43ba-bac1-45b4f49582fe" providerId="ADAL" clId="{E62D84E9-A8EA-4AFB-A360-AB768C492C07}" dt="2026-07-03T11:40:38.647" v="0"/>
        <pc:sldMkLst>
          <pc:docMk/>
          <pc:sldMk cId="2183140527" sldId="257"/>
        </pc:sldMkLst>
      </pc:sldChg>
      <pc:sldChg chg="modTransition">
        <pc:chgData name="MERCIER Gustave" userId="b870b7d8-8c88-43ba-bac1-45b4f49582fe" providerId="ADAL" clId="{E62D84E9-A8EA-4AFB-A360-AB768C492C07}" dt="2026-07-03T11:40:44.716" v="1"/>
        <pc:sldMkLst>
          <pc:docMk/>
          <pc:sldMk cId="1041316907" sldId="258"/>
        </pc:sldMkLst>
      </pc:sldChg>
      <pc:sldChg chg="modTransition">
        <pc:chgData name="MERCIER Gustave" userId="b870b7d8-8c88-43ba-bac1-45b4f49582fe" providerId="ADAL" clId="{E62D84E9-A8EA-4AFB-A360-AB768C492C07}" dt="2026-07-03T11:40:48.749" v="2"/>
        <pc:sldMkLst>
          <pc:docMk/>
          <pc:sldMk cId="642556845" sldId="259"/>
        </pc:sldMkLst>
      </pc:sldChg>
      <pc:sldChg chg="modTransition">
        <pc:chgData name="MERCIER Gustave" userId="b870b7d8-8c88-43ba-bac1-45b4f49582fe" providerId="ADAL" clId="{E62D84E9-A8EA-4AFB-A360-AB768C492C07}" dt="2026-07-03T11:40:55.735" v="3"/>
        <pc:sldMkLst>
          <pc:docMk/>
          <pc:sldMk cId="1380797905" sldId="260"/>
        </pc:sldMkLst>
      </pc:sldChg>
      <pc:sldChg chg="modTransition">
        <pc:chgData name="MERCIER Gustave" userId="b870b7d8-8c88-43ba-bac1-45b4f49582fe" providerId="ADAL" clId="{E62D84E9-A8EA-4AFB-A360-AB768C492C07}" dt="2026-07-03T11:41:00.086" v="4"/>
        <pc:sldMkLst>
          <pc:docMk/>
          <pc:sldMk cId="1289665313" sldId="261"/>
        </pc:sldMkLst>
      </pc:sldChg>
      <pc:sldChg chg="modTransition">
        <pc:chgData name="MERCIER Gustave" userId="b870b7d8-8c88-43ba-bac1-45b4f49582fe" providerId="ADAL" clId="{E62D84E9-A8EA-4AFB-A360-AB768C492C07}" dt="2026-07-03T11:41:11.653" v="8"/>
        <pc:sldMkLst>
          <pc:docMk/>
          <pc:sldMk cId="3387260708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15567-9876-40DE-B737-899D83A3FE69}" type="datetimeFigureOut">
              <a:rPr lang="fr-FR" smtClean="0"/>
              <a:t>03/07/2026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4A0001-2201-421E-B1E9-F6CC691B85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0139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4A0001-2201-421E-B1E9-F6CC691B85D9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3835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715637-39DE-9E58-11C9-69AEA9773F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8665497-BE8F-7585-27E2-C4293B3067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AB2AB7-1306-A42E-9414-69396E7E3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3808F-7DB8-4909-BBD1-E6CA4C746E2D}" type="datetimeFigureOut">
              <a:rPr lang="fr-FR" smtClean="0"/>
              <a:t>03/07/2026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42962C-9C15-9B16-BEB1-519FB6247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687C67-E67E-F842-1995-567784203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5488F-D770-429C-9DBE-25B1917790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0890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D54D2F-1E09-618C-DB87-20113CF4F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5B74AF-068B-DEAB-9990-8E98363AF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153070A-6D81-E3A9-5FBD-7299D337C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3808F-7DB8-4909-BBD1-E6CA4C746E2D}" type="datetimeFigureOut">
              <a:rPr lang="fr-FR" smtClean="0"/>
              <a:t>03/07/2026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AE7756E-2B80-FA52-36F0-83C08A867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AAE41B-242C-0AF2-BADF-99C52320A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5488F-D770-429C-9DBE-25B1917790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1909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90FD50-37B8-E247-B422-5608081A0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287B14C-EBAB-CB6A-CC30-615AA6463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D5AE90-BED6-AD9D-E1EE-D3B4D8DC3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3808F-7DB8-4909-BBD1-E6CA4C746E2D}" type="datetimeFigureOut">
              <a:rPr lang="fr-FR" smtClean="0"/>
              <a:t>03/07/2026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84E63BB-6878-23D8-4562-33341095F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31AB934-237C-B98D-F839-627DB1D04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5488F-D770-429C-9DBE-25B1917790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0490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275E4E-D4EF-16EB-9A68-8423A017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A52A81-1512-4B7E-4F2F-0123009CD0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E48BEA5-A362-CD22-00A9-E51F7EFB12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40308C5-C6FD-005D-6BC8-FED1E7333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3808F-7DB8-4909-BBD1-E6CA4C746E2D}" type="datetimeFigureOut">
              <a:rPr lang="fr-FR" smtClean="0"/>
              <a:t>03/07/2026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011466F-8F6D-CF39-843F-5831179AD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2A2909E-E10B-241C-805C-1CE332C03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5488F-D770-429C-9DBE-25B1917790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0212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31B520-A017-D1C0-BD00-547C5506B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97490BE-F008-A34F-07EA-1C84A7A59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B9D4391-54DB-74AC-B110-DBDD163524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31EBCB8-3E51-3306-355B-6CD8F6D356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89BD148-0D71-C6F9-FF51-BA10BD09C3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E08522B-1584-4B81-395D-A2BBBF73D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3808F-7DB8-4909-BBD1-E6CA4C746E2D}" type="datetimeFigureOut">
              <a:rPr lang="fr-FR" smtClean="0"/>
              <a:t>03/07/2026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6F23ED6-BD51-FB33-767D-81FC71BFB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13AE634-73B2-25EA-5C0F-6F650616A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5488F-D770-429C-9DBE-25B1917790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9344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6B3621-9773-3FD2-D23F-40FC3ED72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D5E8D4F-FF73-157A-CC7C-FB4F3C2E2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3808F-7DB8-4909-BBD1-E6CA4C746E2D}" type="datetimeFigureOut">
              <a:rPr lang="fr-FR" smtClean="0"/>
              <a:t>03/07/2026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D318A1C-C39F-B5F4-7793-5DA9FA2D7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5278129-22D9-EE77-238A-ECB46B5BD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5488F-D770-429C-9DBE-25B1917790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6837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3341812-65ED-DFC2-AE79-1E13F7811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3808F-7DB8-4909-BBD1-E6CA4C746E2D}" type="datetimeFigureOut">
              <a:rPr lang="fr-FR" smtClean="0"/>
              <a:t>03/07/2026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F7F5A2B-1CDE-27E9-3CB5-BEF37C542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3D0DF85-17D2-180C-9473-6A5AD32AD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5488F-D770-429C-9DBE-25B1917790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3444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5D2810-E4BC-2A93-CE0B-35C99784A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F04336-1AEB-70FE-EC00-766DE9075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089198D-E8FB-4AEA-6EF3-620990706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21B55D4-9D6A-145F-D2C8-1F2F79585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3808F-7DB8-4909-BBD1-E6CA4C746E2D}" type="datetimeFigureOut">
              <a:rPr lang="fr-FR" smtClean="0"/>
              <a:t>03/07/2026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73073E9-D8AC-D553-B1AD-5D8F3E9C5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138B562-E738-39DC-DB0D-0BD75D5F6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5488F-D770-429C-9DBE-25B1917790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38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1535E2-0CC9-DB81-F6C8-32A9A49FC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8207F1B-0AAA-7929-2F84-C9C8B58FD0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E96DABF-8781-23B9-DC0B-93C44AAFF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5FDDE74-91FF-E849-C81B-484952544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3808F-7DB8-4909-BBD1-E6CA4C746E2D}" type="datetimeFigureOut">
              <a:rPr lang="fr-FR" smtClean="0"/>
              <a:t>03/07/2026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08D77D1-3703-9567-E6FC-000938D0C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EFBBEBA-F6DE-D563-A199-F064C3586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5488F-D770-429C-9DBE-25B1917790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5298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FBABAA-3B7D-CC7A-0012-91BC56CB9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ECB9955-2621-E044-5861-E725CFE311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47B483-A6FC-F392-0A6E-31135ECEA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3808F-7DB8-4909-BBD1-E6CA4C746E2D}" type="datetimeFigureOut">
              <a:rPr lang="fr-FR" smtClean="0"/>
              <a:t>03/07/2026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3144B1-F40A-67E8-9BFC-59D3C6A38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B356353-8D9A-EFFC-82CF-A68E9E5C3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5488F-D770-429C-9DBE-25B1917790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3763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0326420-8FF7-9871-1AC8-9B27543F65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A7A956D-AEA0-0F10-7A70-776E1FD78E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16D7FEB-728D-F0D7-B96F-006FB8BBC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3808F-7DB8-4909-BBD1-E6CA4C746E2D}" type="datetimeFigureOut">
              <a:rPr lang="fr-FR" smtClean="0"/>
              <a:t>03/07/2026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FB488E-F977-F2DF-476E-9A97CD50D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D07D419-A9D8-591C-02F7-A2C678674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5488F-D770-429C-9DBE-25B1917790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6481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AD50B68-00C5-58F9-E66C-7D60BDE6E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0F87479-C678-BAA3-2C1C-F088BFE96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C8A6115-696C-F9AE-7D81-29A2A621CB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73808F-7DB8-4909-BBD1-E6CA4C746E2D}" type="datetimeFigureOut">
              <a:rPr lang="fr-FR" smtClean="0"/>
              <a:t>03/07/2026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7329DC-020E-A754-93C8-C5983AD392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DEC379-B1BF-0AF7-3D69-F02FA8E98A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35488F-D770-429C-9DBE-25B19177904D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9773A79-5893-3B45-83B9-9D0865AD29A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73725" y="6530340"/>
            <a:ext cx="876300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900">
                <a:solidFill>
                  <a:srgbClr val="008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C1 -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1568902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jpe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 4" descr="Une image contenant lampe, cercle, léger, ampoule&#10;&#10;Le contenu généré par l’IA peut être incorrect.">
            <a:extLst>
              <a:ext uri="{FF2B5EF4-FFF2-40B4-BE49-F238E27FC236}">
                <a16:creationId xmlns:a16="http://schemas.microsoft.com/office/drawing/2014/main" id="{9A3291FC-0A1D-9F4B-D523-A4731F6B7E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6" r="3693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D685706-A3E7-48E6-AED1-AE6D25DFE2AE}"/>
              </a:ext>
            </a:extLst>
          </p:cNvPr>
          <p:cNvSpPr txBox="1"/>
          <p:nvPr/>
        </p:nvSpPr>
        <p:spPr>
          <a:xfrm>
            <a:off x="4169664" y="2904220"/>
            <a:ext cx="34076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bg1"/>
                </a:solidFill>
                <a:latin typeface="Broadway" panose="04040905080B02020502" pitchFamily="82" charset="0"/>
              </a:rPr>
              <a:t>How to </a:t>
            </a:r>
            <a:r>
              <a:rPr lang="fr-FR" sz="2400" dirty="0" err="1">
                <a:solidFill>
                  <a:schemeClr val="bg1"/>
                </a:solidFill>
                <a:latin typeface="Broadway" panose="04040905080B02020502" pitchFamily="82" charset="0"/>
              </a:rPr>
              <a:t>make</a:t>
            </a:r>
            <a:r>
              <a:rPr lang="fr-FR" sz="2400" dirty="0">
                <a:solidFill>
                  <a:schemeClr val="bg1"/>
                </a:solidFill>
                <a:latin typeface="Broadway" panose="04040905080B02020502" pitchFamily="82" charset="0"/>
              </a:rPr>
              <a:t> </a:t>
            </a:r>
            <a:r>
              <a:rPr lang="fr-FR" sz="2400" dirty="0" err="1">
                <a:solidFill>
                  <a:schemeClr val="bg1"/>
                </a:solidFill>
                <a:latin typeface="Broadway" panose="04040905080B02020502" pitchFamily="82" charset="0"/>
              </a:rPr>
              <a:t>companions</a:t>
            </a:r>
            <a:endParaRPr lang="fr-FR" sz="2400" dirty="0">
              <a:solidFill>
                <a:schemeClr val="bg1"/>
              </a:solidFill>
              <a:latin typeface="Broadway" panose="04040905080B02020502" pitchFamily="82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035CB62-2065-BCEC-1828-24A8623ACDCD}"/>
              </a:ext>
            </a:extLst>
          </p:cNvPr>
          <p:cNvSpPr txBox="1"/>
          <p:nvPr/>
        </p:nvSpPr>
        <p:spPr>
          <a:xfrm>
            <a:off x="2179320" y="6336792"/>
            <a:ext cx="738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>
                <a:solidFill>
                  <a:schemeClr val="bg1"/>
                </a:solidFill>
              </a:rPr>
              <a:t>An </a:t>
            </a:r>
            <a:r>
              <a:rPr lang="fr-FR" i="1" dirty="0" err="1">
                <a:solidFill>
                  <a:schemeClr val="bg1"/>
                </a:solidFill>
              </a:rPr>
              <a:t>upskilling</a:t>
            </a:r>
            <a:r>
              <a:rPr lang="fr-FR" i="1" dirty="0">
                <a:solidFill>
                  <a:schemeClr val="bg1"/>
                </a:solidFill>
              </a:rPr>
              <a:t> course in AI architecture and the l’</a:t>
            </a:r>
            <a:r>
              <a:rPr lang="fr-FR" i="1" dirty="0" err="1">
                <a:solidFill>
                  <a:schemeClr val="bg1"/>
                </a:solidFill>
              </a:rPr>
              <a:t>Oreal</a:t>
            </a:r>
            <a:r>
              <a:rPr lang="fr-FR" i="1" dirty="0">
                <a:solidFill>
                  <a:schemeClr val="bg1"/>
                </a:solidFill>
              </a:rPr>
              <a:t> GPT environnement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3C8A4CA-C3E5-9FBA-D054-F3C7F876DFBE}"/>
              </a:ext>
            </a:extLst>
          </p:cNvPr>
          <p:cNvSpPr txBox="1"/>
          <p:nvPr/>
        </p:nvSpPr>
        <p:spPr>
          <a:xfrm>
            <a:off x="8101584" y="0"/>
            <a:ext cx="4090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Gustave Mercier – Summer STEM </a:t>
            </a:r>
            <a:r>
              <a:rPr lang="fr-FR" dirty="0" err="1">
                <a:solidFill>
                  <a:schemeClr val="bg1"/>
                </a:solidFill>
              </a:rPr>
              <a:t>intern</a:t>
            </a: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98224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DD8C9D4-8E11-340C-8ACE-54131D075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600"/>
            <a:ext cx="6328060" cy="224413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91D4A7A-86D6-BA2F-3A53-9D4AF067E5CC}"/>
              </a:ext>
            </a:extLst>
          </p:cNvPr>
          <p:cNvSpPr/>
          <p:nvPr/>
        </p:nvSpPr>
        <p:spPr>
          <a:xfrm>
            <a:off x="0" y="1124712"/>
            <a:ext cx="1115568" cy="22860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1DE886-AE43-FDA3-BF69-5F7309FBFB49}"/>
              </a:ext>
            </a:extLst>
          </p:cNvPr>
          <p:cNvSpPr/>
          <p:nvPr/>
        </p:nvSpPr>
        <p:spPr>
          <a:xfrm>
            <a:off x="5102352" y="877824"/>
            <a:ext cx="813816" cy="374904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BE0D971-C4AF-F24B-B1A3-D8D73955D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060" y="303515"/>
            <a:ext cx="5843235" cy="231960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EF19717-8DBB-1B59-9FED-EFE199042F04}"/>
              </a:ext>
            </a:extLst>
          </p:cNvPr>
          <p:cNvSpPr/>
          <p:nvPr/>
        </p:nvSpPr>
        <p:spPr>
          <a:xfrm>
            <a:off x="8348472" y="749808"/>
            <a:ext cx="3666744" cy="1792224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08FEF61B-E52A-E8FA-6CB1-AA8E9F052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" y="3237665"/>
            <a:ext cx="5518276" cy="281911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F3B3423-9AE5-4E13-0B8E-92A9D145477C}"/>
              </a:ext>
            </a:extLst>
          </p:cNvPr>
          <p:cNvSpPr/>
          <p:nvPr/>
        </p:nvSpPr>
        <p:spPr>
          <a:xfrm>
            <a:off x="2798064" y="4453128"/>
            <a:ext cx="2386584" cy="448056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6EC9AD41-5105-D82A-384B-6A2C8BAC12A7}"/>
              </a:ext>
            </a:extLst>
          </p:cNvPr>
          <p:cNvCxnSpPr/>
          <p:nvPr/>
        </p:nvCxnSpPr>
        <p:spPr>
          <a:xfrm>
            <a:off x="2889504" y="4261104"/>
            <a:ext cx="120700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6DBC34EB-5078-6EB4-A359-11701BB6F4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4154" y="3382020"/>
            <a:ext cx="6277846" cy="1894067"/>
          </a:xfrm>
          <a:prstGeom prst="rect">
            <a:avLst/>
          </a:prstGeom>
        </p:spPr>
      </p:pic>
      <p:sp>
        <p:nvSpPr>
          <p:cNvPr id="16" name="Ellipse 15">
            <a:extLst>
              <a:ext uri="{FF2B5EF4-FFF2-40B4-BE49-F238E27FC236}">
                <a16:creationId xmlns:a16="http://schemas.microsoft.com/office/drawing/2014/main" id="{960957DA-6B38-0190-A926-64FE35CE239A}"/>
              </a:ext>
            </a:extLst>
          </p:cNvPr>
          <p:cNvSpPr/>
          <p:nvPr/>
        </p:nvSpPr>
        <p:spPr>
          <a:xfrm>
            <a:off x="7607808" y="3858768"/>
            <a:ext cx="1078992" cy="402336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47D3DF44-07D3-24F4-3266-363C2EB3A219}"/>
              </a:ext>
            </a:extLst>
          </p:cNvPr>
          <p:cNvSpPr/>
          <p:nvPr/>
        </p:nvSpPr>
        <p:spPr>
          <a:xfrm>
            <a:off x="9053077" y="3855720"/>
            <a:ext cx="1078992" cy="402336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7A40A83F-0805-E135-22DE-113124842746}"/>
              </a:ext>
            </a:extLst>
          </p:cNvPr>
          <p:cNvSpPr/>
          <p:nvPr/>
        </p:nvSpPr>
        <p:spPr>
          <a:xfrm>
            <a:off x="10498346" y="3855720"/>
            <a:ext cx="1078992" cy="402336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4C02EBCC-B91E-2B8B-3137-89C77B146D3E}"/>
              </a:ext>
            </a:extLst>
          </p:cNvPr>
          <p:cNvCxnSpPr>
            <a:cxnSpLocks/>
          </p:cNvCxnSpPr>
          <p:nvPr/>
        </p:nvCxnSpPr>
        <p:spPr>
          <a:xfrm>
            <a:off x="6328060" y="0"/>
            <a:ext cx="0" cy="3142488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30AE08A1-D58D-05EC-D6B2-79F0F80E9532}"/>
              </a:ext>
            </a:extLst>
          </p:cNvPr>
          <p:cNvCxnSpPr>
            <a:cxnSpLocks/>
          </p:cNvCxnSpPr>
          <p:nvPr/>
        </p:nvCxnSpPr>
        <p:spPr>
          <a:xfrm>
            <a:off x="5721508" y="3142488"/>
            <a:ext cx="0" cy="3715512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8D35CAA6-B327-0264-5FDD-76B0ED371B87}"/>
              </a:ext>
            </a:extLst>
          </p:cNvPr>
          <p:cNvCxnSpPr>
            <a:cxnSpLocks/>
          </p:cNvCxnSpPr>
          <p:nvPr/>
        </p:nvCxnSpPr>
        <p:spPr>
          <a:xfrm>
            <a:off x="18288" y="3142488"/>
            <a:ext cx="12173712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Image 27">
            <a:extLst>
              <a:ext uri="{FF2B5EF4-FFF2-40B4-BE49-F238E27FC236}">
                <a16:creationId xmlns:a16="http://schemas.microsoft.com/office/drawing/2014/main" id="{DEDE2691-2431-CE04-0EB0-6D3E4F572927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"/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</p:spTree>
    <p:extLst>
      <p:ext uri="{BB962C8B-B14F-4D97-AF65-F5344CB8AC3E}">
        <p14:creationId xmlns:p14="http://schemas.microsoft.com/office/powerpoint/2010/main" val="21831405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 33">
            <a:extLst>
              <a:ext uri="{FF2B5EF4-FFF2-40B4-BE49-F238E27FC236}">
                <a16:creationId xmlns:a16="http://schemas.microsoft.com/office/drawing/2014/main" id="{986D1F0F-2230-87BE-A8FB-0C1C0D75C53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20" name="Flèche : courbe vers le bas 19">
            <a:extLst>
              <a:ext uri="{FF2B5EF4-FFF2-40B4-BE49-F238E27FC236}">
                <a16:creationId xmlns:a16="http://schemas.microsoft.com/office/drawing/2014/main" id="{0B8ACDD5-D855-985E-3C3A-62AA59BB369B}"/>
              </a:ext>
            </a:extLst>
          </p:cNvPr>
          <p:cNvSpPr/>
          <p:nvPr/>
        </p:nvSpPr>
        <p:spPr>
          <a:xfrm rot="10990207" flipH="1">
            <a:off x="5792610" y="3160514"/>
            <a:ext cx="4499367" cy="1277856"/>
          </a:xfrm>
          <a:prstGeom prst="curvedDownArrow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FC1C32-45F0-B8F6-EA2E-E0362844C9E5}"/>
              </a:ext>
            </a:extLst>
          </p:cNvPr>
          <p:cNvSpPr/>
          <p:nvPr/>
        </p:nvSpPr>
        <p:spPr>
          <a:xfrm>
            <a:off x="1225296" y="3218688"/>
            <a:ext cx="1618488" cy="2679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356902-918A-BAD0-4768-1A5A569F73E4}"/>
              </a:ext>
            </a:extLst>
          </p:cNvPr>
          <p:cNvSpPr/>
          <p:nvPr/>
        </p:nvSpPr>
        <p:spPr>
          <a:xfrm>
            <a:off x="1530096" y="3371088"/>
            <a:ext cx="1618488" cy="2679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780281-B469-5793-3BDA-C6A42BD1ECA4}"/>
              </a:ext>
            </a:extLst>
          </p:cNvPr>
          <p:cNvSpPr/>
          <p:nvPr/>
        </p:nvSpPr>
        <p:spPr>
          <a:xfrm>
            <a:off x="1908048" y="3523488"/>
            <a:ext cx="1618488" cy="2679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2A6C23-9E9D-C54E-0D82-8737067101C8}"/>
              </a:ext>
            </a:extLst>
          </p:cNvPr>
          <p:cNvSpPr/>
          <p:nvPr/>
        </p:nvSpPr>
        <p:spPr>
          <a:xfrm>
            <a:off x="3148584" y="1984248"/>
            <a:ext cx="3486912" cy="93268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7030A0"/>
                </a:solidFill>
              </a:rPr>
              <a:t>THE PROMPT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59DD4C82-71F5-2C50-F717-F5CE7490CE3C}"/>
              </a:ext>
            </a:extLst>
          </p:cNvPr>
          <p:cNvSpPr/>
          <p:nvPr/>
        </p:nvSpPr>
        <p:spPr>
          <a:xfrm>
            <a:off x="3831336" y="3588258"/>
            <a:ext cx="5436108" cy="2903982"/>
          </a:xfrm>
          <a:prstGeom prst="ellipse">
            <a:avLst/>
          </a:prstGeom>
          <a:noFill/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2459056B-6B2C-4D68-111B-BDDD8DBF21E0}"/>
              </a:ext>
            </a:extLst>
          </p:cNvPr>
          <p:cNvSpPr/>
          <p:nvPr/>
        </p:nvSpPr>
        <p:spPr>
          <a:xfrm flipH="1">
            <a:off x="2302764" y="2420112"/>
            <a:ext cx="1687068" cy="1901952"/>
          </a:xfrm>
          <a:prstGeom prst="arc">
            <a:avLst>
              <a:gd name="adj1" fmla="val 16200000"/>
              <a:gd name="adj2" fmla="val 20988462"/>
            </a:avLst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FE389A75-DF23-72EC-9659-ACFBEB72C500}"/>
              </a:ext>
            </a:extLst>
          </p:cNvPr>
          <p:cNvSpPr/>
          <p:nvPr/>
        </p:nvSpPr>
        <p:spPr>
          <a:xfrm flipH="1">
            <a:off x="2924556" y="2916936"/>
            <a:ext cx="528828" cy="1049274"/>
          </a:xfrm>
          <a:prstGeom prst="arc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42970759-D150-0B07-9516-885D48F260C1}"/>
              </a:ext>
            </a:extLst>
          </p:cNvPr>
          <p:cNvSpPr/>
          <p:nvPr/>
        </p:nvSpPr>
        <p:spPr>
          <a:xfrm flipH="1">
            <a:off x="3229356" y="2916936"/>
            <a:ext cx="1296924" cy="1946148"/>
          </a:xfrm>
          <a:prstGeom prst="arc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F5EF5141-741A-097C-B15E-8FAE02B3FDA8}"/>
              </a:ext>
            </a:extLst>
          </p:cNvPr>
          <p:cNvSpPr/>
          <p:nvPr/>
        </p:nvSpPr>
        <p:spPr>
          <a:xfrm>
            <a:off x="8476488" y="365760"/>
            <a:ext cx="3300984" cy="27172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CCDF1662-F48E-16DC-9AD2-444495883163}"/>
              </a:ext>
            </a:extLst>
          </p:cNvPr>
          <p:cNvSpPr/>
          <p:nvPr/>
        </p:nvSpPr>
        <p:spPr>
          <a:xfrm>
            <a:off x="8778240" y="1618488"/>
            <a:ext cx="2697480" cy="123291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Documents, formats, </a:t>
            </a:r>
            <a:r>
              <a:rPr lang="fr-FR" dirty="0" err="1"/>
              <a:t>messy</a:t>
            </a:r>
            <a:r>
              <a:rPr lang="fr-FR" dirty="0"/>
              <a:t> structures, images…</a:t>
            </a:r>
          </a:p>
        </p:txBody>
      </p:sp>
      <p:sp>
        <p:nvSpPr>
          <p:cNvPr id="18" name="Flèche : droite 17">
            <a:extLst>
              <a:ext uri="{FF2B5EF4-FFF2-40B4-BE49-F238E27FC236}">
                <a16:creationId xmlns:a16="http://schemas.microsoft.com/office/drawing/2014/main" id="{FB821FDA-AA76-6CE8-10CD-04B9A121638C}"/>
              </a:ext>
            </a:extLst>
          </p:cNvPr>
          <p:cNvSpPr/>
          <p:nvPr/>
        </p:nvSpPr>
        <p:spPr>
          <a:xfrm>
            <a:off x="6905244" y="2103121"/>
            <a:ext cx="1269492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Flèche : droite 18">
            <a:extLst>
              <a:ext uri="{FF2B5EF4-FFF2-40B4-BE49-F238E27FC236}">
                <a16:creationId xmlns:a16="http://schemas.microsoft.com/office/drawing/2014/main" id="{EB154C91-D8DD-A796-B6DA-DAB0BE3EB50D}"/>
              </a:ext>
            </a:extLst>
          </p:cNvPr>
          <p:cNvSpPr/>
          <p:nvPr/>
        </p:nvSpPr>
        <p:spPr>
          <a:xfrm rot="10800000">
            <a:off x="6905244" y="2420112"/>
            <a:ext cx="1269492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5F9BC985-E374-2B14-928D-D20EF894F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9990" y="4650716"/>
            <a:ext cx="1385003" cy="779065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8C8C9E8C-F652-5F9A-241E-B42EF75B10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9726" y="5508347"/>
            <a:ext cx="1385003" cy="779065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1202B55F-7EC1-4840-7453-B70AE084BF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3832" y="5128352"/>
            <a:ext cx="1351094" cy="759990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F0398004-FE86-4E2B-634D-BC2EEEF8F4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4541" y="4161311"/>
            <a:ext cx="1411459" cy="793946"/>
          </a:xfrm>
          <a:prstGeom prst="rect">
            <a:avLst/>
          </a:prstGeom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675B2FF1-F99D-3530-2D2F-64987B229CB0}"/>
              </a:ext>
            </a:extLst>
          </p:cNvPr>
          <p:cNvSpPr txBox="1"/>
          <p:nvPr/>
        </p:nvSpPr>
        <p:spPr>
          <a:xfrm>
            <a:off x="9228582" y="921978"/>
            <a:ext cx="17967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/>
              <a:t>User</a:t>
            </a:r>
          </a:p>
        </p:txBody>
      </p:sp>
      <p:sp>
        <p:nvSpPr>
          <p:cNvPr id="32" name="Flèche : courbe vers le bas 31">
            <a:extLst>
              <a:ext uri="{FF2B5EF4-FFF2-40B4-BE49-F238E27FC236}">
                <a16:creationId xmlns:a16="http://schemas.microsoft.com/office/drawing/2014/main" id="{00BAA387-2771-1745-640E-CF1C8A4EA072}"/>
              </a:ext>
            </a:extLst>
          </p:cNvPr>
          <p:cNvSpPr/>
          <p:nvPr/>
        </p:nvSpPr>
        <p:spPr>
          <a:xfrm rot="10990207">
            <a:off x="6187328" y="3074897"/>
            <a:ext cx="3406760" cy="1168208"/>
          </a:xfrm>
          <a:prstGeom prst="curvedDownArrow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D53C6612-7F05-4743-0129-93C91DA472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121" y="2548951"/>
            <a:ext cx="1958967" cy="5188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B8A193F0-6B86-4657-07B2-A44F4AC1CA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89832" y="1415796"/>
            <a:ext cx="1974342" cy="4310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2991B5C6-A76E-38B7-81A0-2468E7110D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72411" y="4510196"/>
            <a:ext cx="2378985" cy="6778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5" name="ZoneTexte 34">
            <a:extLst>
              <a:ext uri="{FF2B5EF4-FFF2-40B4-BE49-F238E27FC236}">
                <a16:creationId xmlns:a16="http://schemas.microsoft.com/office/drawing/2014/main" id="{C7FD0420-D2EE-8C2C-4AD7-5E66B55E4BB6}"/>
              </a:ext>
            </a:extLst>
          </p:cNvPr>
          <p:cNvSpPr txBox="1"/>
          <p:nvPr/>
        </p:nvSpPr>
        <p:spPr>
          <a:xfrm>
            <a:off x="6937248" y="1764864"/>
            <a:ext cx="15712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err="1"/>
              <a:t>Text</a:t>
            </a:r>
            <a:r>
              <a:rPr lang="fr-FR" sz="1400" dirty="0"/>
              <a:t> and code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7DD777B0-3657-D94D-23AE-90003860CA33}"/>
              </a:ext>
            </a:extLst>
          </p:cNvPr>
          <p:cNvSpPr txBox="1"/>
          <p:nvPr/>
        </p:nvSpPr>
        <p:spPr>
          <a:xfrm>
            <a:off x="6754368" y="2448423"/>
            <a:ext cx="15712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err="1"/>
              <a:t>Text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0413169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22">
            <a:extLst>
              <a:ext uri="{FF2B5EF4-FFF2-40B4-BE49-F238E27FC236}">
                <a16:creationId xmlns:a16="http://schemas.microsoft.com/office/drawing/2014/main" id="{B8A32195-ED65-3FED-7723-63FF785D0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342" y="2531922"/>
            <a:ext cx="4506709" cy="9437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319BC863-3407-B251-ABDB-E74A9C348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895" y="246889"/>
            <a:ext cx="5677605" cy="2231135"/>
          </a:xfrm>
          <a:prstGeom prst="rect">
            <a:avLst/>
          </a:prstGeom>
        </p:spPr>
      </p:pic>
      <p:pic>
        <p:nvPicPr>
          <p:cNvPr id="1026" name="Picture 2" descr="Understanding Latex Enter: A Guide to Efficient Text Processing in LaTeX">
            <a:extLst>
              <a:ext uri="{FF2B5EF4-FFF2-40B4-BE49-F238E27FC236}">
                <a16:creationId xmlns:a16="http://schemas.microsoft.com/office/drawing/2014/main" id="{5F1A5BF2-97D0-EC90-E11D-55FD2B3B58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357"/>
          <a:stretch>
            <a:fillRect/>
          </a:stretch>
        </p:blipFill>
        <p:spPr bwMode="auto">
          <a:xfrm>
            <a:off x="223401" y="1288592"/>
            <a:ext cx="2695367" cy="153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C11E180-02DC-E646-306E-23AD51597D07}"/>
              </a:ext>
            </a:extLst>
          </p:cNvPr>
          <p:cNvSpPr/>
          <p:nvPr/>
        </p:nvSpPr>
        <p:spPr>
          <a:xfrm>
            <a:off x="6455895" y="585216"/>
            <a:ext cx="822729" cy="27432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AEA09B8-37CF-7C39-8ED9-6EE410C058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3509" y="1596878"/>
            <a:ext cx="2782441" cy="92140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9B9217D-EA4C-DD78-B332-AE380DAA14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480" y="4062124"/>
            <a:ext cx="4644716" cy="1294072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9B5D086E-5AC1-7B4D-61C7-89A7A5E673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4134" y="3529583"/>
            <a:ext cx="3414992" cy="3081528"/>
          </a:xfrm>
          <a:prstGeom prst="rect">
            <a:avLst/>
          </a:prstGeom>
        </p:spPr>
      </p:pic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8583C448-879C-1134-CE79-7E60FA573DA0}"/>
              </a:ext>
            </a:extLst>
          </p:cNvPr>
          <p:cNvSpPr/>
          <p:nvPr/>
        </p:nvSpPr>
        <p:spPr>
          <a:xfrm>
            <a:off x="10469880" y="4096512"/>
            <a:ext cx="1572768" cy="12252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The</a:t>
            </a:r>
          </a:p>
          <a:p>
            <a:pPr algn="ctr"/>
            <a:r>
              <a:rPr lang="fr-FR" dirty="0" err="1"/>
              <a:t>Companion</a:t>
            </a:r>
            <a:endParaRPr lang="fr-FR" dirty="0"/>
          </a:p>
        </p:txBody>
      </p:sp>
      <p:sp>
        <p:nvSpPr>
          <p:cNvPr id="13" name="Flèche : droite 12">
            <a:extLst>
              <a:ext uri="{FF2B5EF4-FFF2-40B4-BE49-F238E27FC236}">
                <a16:creationId xmlns:a16="http://schemas.microsoft.com/office/drawing/2014/main" id="{8DEAB7CA-076F-0BF7-3B8B-D6DD90DA40A9}"/>
              </a:ext>
            </a:extLst>
          </p:cNvPr>
          <p:cNvSpPr/>
          <p:nvPr/>
        </p:nvSpPr>
        <p:spPr>
          <a:xfrm>
            <a:off x="9510942" y="4499248"/>
            <a:ext cx="702906" cy="4019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Flèche : bas 13">
            <a:extLst>
              <a:ext uri="{FF2B5EF4-FFF2-40B4-BE49-F238E27FC236}">
                <a16:creationId xmlns:a16="http://schemas.microsoft.com/office/drawing/2014/main" id="{316D2A87-06E0-7FB9-DE4F-69AEC72CAB60}"/>
              </a:ext>
            </a:extLst>
          </p:cNvPr>
          <p:cNvSpPr/>
          <p:nvPr/>
        </p:nvSpPr>
        <p:spPr>
          <a:xfrm>
            <a:off x="2681058" y="3227832"/>
            <a:ext cx="475328" cy="557784"/>
          </a:xfrm>
          <a:prstGeom prst="downArrow">
            <a:avLst>
              <a:gd name="adj1" fmla="val 49919"/>
              <a:gd name="adj2" fmla="val 5158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Flèche : droite 15">
            <a:extLst>
              <a:ext uri="{FF2B5EF4-FFF2-40B4-BE49-F238E27FC236}">
                <a16:creationId xmlns:a16="http://schemas.microsoft.com/office/drawing/2014/main" id="{385DE0F0-F8CD-4085-D209-9D7D1EA37B7C}"/>
              </a:ext>
            </a:extLst>
          </p:cNvPr>
          <p:cNvSpPr/>
          <p:nvPr/>
        </p:nvSpPr>
        <p:spPr>
          <a:xfrm>
            <a:off x="5341228" y="4508192"/>
            <a:ext cx="702906" cy="4019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93047C90-B0AC-DB93-8029-90F16CE4DFB0}"/>
              </a:ext>
            </a:extLst>
          </p:cNvPr>
          <p:cNvCxnSpPr/>
          <p:nvPr/>
        </p:nvCxnSpPr>
        <p:spPr>
          <a:xfrm>
            <a:off x="603504" y="2286000"/>
            <a:ext cx="1147553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AC4A4085-9EE3-72A5-E108-A3351B4DD00E}"/>
              </a:ext>
            </a:extLst>
          </p:cNvPr>
          <p:cNvSpPr/>
          <p:nvPr/>
        </p:nvSpPr>
        <p:spPr>
          <a:xfrm>
            <a:off x="8974656" y="2634060"/>
            <a:ext cx="640080" cy="154377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7A406621-7F03-FB63-CC82-9AEBDB9D848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5000"/>
          </a:blip>
          <a:stretch>
            <a:fillRect/>
          </a:stretch>
        </p:blipFill>
        <p:spPr>
          <a:xfrm>
            <a:off x="0" y="-4571"/>
            <a:ext cx="12192000" cy="6857999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8E227673-9051-47DD-77C6-E7D912F6C5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3401" y="246889"/>
            <a:ext cx="3055312" cy="8092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425568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6ED84C1-EEED-1EEA-09CE-10D5F2E3B446}"/>
              </a:ext>
            </a:extLst>
          </p:cNvPr>
          <p:cNvSpPr txBox="1"/>
          <p:nvPr/>
        </p:nvSpPr>
        <p:spPr>
          <a:xfrm>
            <a:off x="1143000" y="1457123"/>
            <a:ext cx="2606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 err="1"/>
              <a:t>Overspecialisation</a:t>
            </a:r>
            <a:endParaRPr lang="en-US" noProof="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4B5BC40-592B-B189-3AF6-EB9329FA6906}"/>
              </a:ext>
            </a:extLst>
          </p:cNvPr>
          <p:cNvSpPr txBox="1"/>
          <p:nvPr/>
        </p:nvSpPr>
        <p:spPr>
          <a:xfrm>
            <a:off x="1143000" y="2033183"/>
            <a:ext cx="2788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Design </a:t>
            </a:r>
            <a:r>
              <a:rPr lang="fr-FR" dirty="0" err="1"/>
              <a:t>bias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27098E6-61EE-7122-B2BF-2458CEB00CF8}"/>
              </a:ext>
            </a:extLst>
          </p:cNvPr>
          <p:cNvSpPr txBox="1"/>
          <p:nvPr/>
        </p:nvSpPr>
        <p:spPr>
          <a:xfrm>
            <a:off x="1266444" y="2654987"/>
            <a:ext cx="3145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Stochastic</a:t>
            </a:r>
            <a:r>
              <a:rPr lang="fr-FR" dirty="0"/>
              <a:t> vs </a:t>
            </a:r>
            <a:r>
              <a:rPr lang="fr-FR" dirty="0" err="1"/>
              <a:t>deterministic</a:t>
            </a:r>
            <a:endParaRPr lang="fr-FR" dirty="0"/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5FBAB89C-1D86-8E70-8BFE-DD3DC27EA1D4}"/>
              </a:ext>
            </a:extLst>
          </p:cNvPr>
          <p:cNvCxnSpPr/>
          <p:nvPr/>
        </p:nvCxnSpPr>
        <p:spPr>
          <a:xfrm>
            <a:off x="4233672" y="1557707"/>
            <a:ext cx="2715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1ACB91C2-31CA-0BA6-C448-A0885659D6E7}"/>
              </a:ext>
            </a:extLst>
          </p:cNvPr>
          <p:cNvSpPr txBox="1"/>
          <p:nvPr/>
        </p:nvSpPr>
        <p:spPr>
          <a:xfrm>
            <a:off x="7083171" y="1373041"/>
            <a:ext cx="4849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Removing</a:t>
            </a:r>
            <a:r>
              <a:rPr lang="fr-FR" dirty="0"/>
              <a:t> </a:t>
            </a:r>
            <a:r>
              <a:rPr lang="fr-FR" dirty="0" err="1"/>
              <a:t>specifics</a:t>
            </a:r>
            <a:r>
              <a:rPr lang="fr-FR" dirty="0"/>
              <a:t> like </a:t>
            </a:r>
            <a:r>
              <a:rPr lang="fr-FR" dirty="0" err="1"/>
              <a:t>names</a:t>
            </a:r>
            <a:r>
              <a:rPr lang="fr-FR" dirty="0"/>
              <a:t> and use </a:t>
            </a:r>
            <a:r>
              <a:rPr lang="fr-FR" dirty="0" err="1"/>
              <a:t>maybes</a:t>
            </a:r>
            <a:endParaRPr lang="fr-FR" dirty="0"/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47BD62A1-93EE-1A9D-839C-9377CC3A8286}"/>
              </a:ext>
            </a:extLst>
          </p:cNvPr>
          <p:cNvCxnSpPr>
            <a:cxnSpLocks/>
          </p:cNvCxnSpPr>
          <p:nvPr/>
        </p:nvCxnSpPr>
        <p:spPr>
          <a:xfrm>
            <a:off x="4233672" y="2199561"/>
            <a:ext cx="2715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C22DE1C6-B45B-AF70-E74E-17BB3B242769}"/>
              </a:ext>
            </a:extLst>
          </p:cNvPr>
          <p:cNvSpPr txBox="1"/>
          <p:nvPr/>
        </p:nvSpPr>
        <p:spPr>
          <a:xfrm>
            <a:off x="7205472" y="2056055"/>
            <a:ext cx="3803904" cy="369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Test </a:t>
            </a:r>
            <a:r>
              <a:rPr lang="fr-FR" dirty="0" err="1"/>
              <a:t>every</a:t>
            </a:r>
            <a:r>
              <a:rPr lang="fr-FR" dirty="0"/>
              <a:t> set up (yeah </a:t>
            </a:r>
            <a:r>
              <a:rPr lang="fr-FR" dirty="0" err="1"/>
              <a:t>that’s</a:t>
            </a:r>
            <a:r>
              <a:rPr lang="fr-FR" dirty="0"/>
              <a:t> </a:t>
            </a:r>
            <a:r>
              <a:rPr lang="fr-FR" dirty="0" err="1"/>
              <a:t>boring</a:t>
            </a:r>
            <a:r>
              <a:rPr lang="fr-FR" dirty="0"/>
              <a:t>)</a:t>
            </a:r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4859A935-EDCD-B9ED-2EBF-7F5AB9C05550}"/>
              </a:ext>
            </a:extLst>
          </p:cNvPr>
          <p:cNvCxnSpPr/>
          <p:nvPr/>
        </p:nvCxnSpPr>
        <p:spPr>
          <a:xfrm>
            <a:off x="4233672" y="2839653"/>
            <a:ext cx="27157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98EC8379-F12F-163D-045E-8871EDA9B54B}"/>
              </a:ext>
            </a:extLst>
          </p:cNvPr>
          <p:cNvSpPr txBox="1"/>
          <p:nvPr/>
        </p:nvSpPr>
        <p:spPr>
          <a:xfrm>
            <a:off x="7205472" y="2654987"/>
            <a:ext cx="4489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Nods</a:t>
            </a:r>
            <a:r>
              <a:rPr lang="fr-FR" dirty="0"/>
              <a:t>, graphs (RAG), </a:t>
            </a:r>
            <a:r>
              <a:rPr lang="fr-FR" dirty="0" err="1"/>
              <a:t>just</a:t>
            </a:r>
            <a:r>
              <a:rPr lang="fr-FR" dirty="0"/>
              <a:t> use </a:t>
            </a:r>
            <a:r>
              <a:rPr lang="fr-FR" dirty="0" err="1"/>
              <a:t>academia</a:t>
            </a:r>
            <a:endParaRPr lang="fr-FR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61F567B0-C56F-5E34-E06E-14D5D983BF0A}"/>
              </a:ext>
            </a:extLst>
          </p:cNvPr>
          <p:cNvSpPr txBox="1"/>
          <p:nvPr/>
        </p:nvSpPr>
        <p:spPr>
          <a:xfrm>
            <a:off x="512029" y="4537221"/>
            <a:ext cx="48494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i="1" dirty="0"/>
              <a:t>In </a:t>
            </a:r>
            <a:r>
              <a:rPr lang="fr-FR" i="1" dirty="0" err="1"/>
              <a:t>my</a:t>
            </a:r>
            <a:r>
              <a:rPr lang="fr-FR" i="1" dirty="0"/>
              <a:t> </a:t>
            </a:r>
            <a:r>
              <a:rPr lang="fr-FR" i="1" dirty="0" err="1"/>
              <a:t>experience</a:t>
            </a:r>
            <a:r>
              <a:rPr lang="fr-FR" i="1" dirty="0"/>
              <a:t> the model </a:t>
            </a:r>
            <a:r>
              <a:rPr lang="fr-FR" i="1" dirty="0" err="1"/>
              <a:t>doesn’t</a:t>
            </a:r>
            <a:r>
              <a:rPr lang="fr-FR" i="1" dirty="0"/>
              <a:t> </a:t>
            </a:r>
            <a:r>
              <a:rPr lang="fr-FR" i="1" dirty="0" err="1"/>
              <a:t>matter</a:t>
            </a:r>
            <a:r>
              <a:rPr lang="fr-FR" i="1" dirty="0"/>
              <a:t> as long as </a:t>
            </a:r>
            <a:r>
              <a:rPr lang="fr-FR" i="1" dirty="0" err="1"/>
              <a:t>it’s</a:t>
            </a:r>
            <a:r>
              <a:rPr lang="fr-FR" i="1" dirty="0"/>
              <a:t> not chat GPT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D231E4F-83F5-E417-73A3-BEA750CDE004}"/>
              </a:ext>
            </a:extLst>
          </p:cNvPr>
          <p:cNvSpPr txBox="1"/>
          <p:nvPr/>
        </p:nvSpPr>
        <p:spPr>
          <a:xfrm>
            <a:off x="6830568" y="4557108"/>
            <a:ext cx="4178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i="1" dirty="0"/>
              <a:t>Access are </a:t>
            </a:r>
            <a:r>
              <a:rPr lang="fr-FR" i="1" dirty="0" err="1"/>
              <a:t>defined</a:t>
            </a:r>
            <a:r>
              <a:rPr lang="fr-FR" i="1" dirty="0"/>
              <a:t> by </a:t>
            </a:r>
            <a:r>
              <a:rPr lang="fr-FR" i="1" dirty="0" err="1"/>
              <a:t>your</a:t>
            </a:r>
            <a:r>
              <a:rPr lang="fr-FR" i="1" dirty="0"/>
              <a:t> chat </a:t>
            </a:r>
            <a:r>
              <a:rPr lang="fr-FR" i="1" dirty="0" err="1"/>
              <a:t>level</a:t>
            </a:r>
            <a:r>
              <a:rPr lang="fr-FR" i="1" dirty="0"/>
              <a:t> (</a:t>
            </a:r>
            <a:r>
              <a:rPr lang="fr-FR" i="1" dirty="0" err="1"/>
              <a:t>my</a:t>
            </a:r>
            <a:r>
              <a:rPr lang="fr-FR" i="1" dirty="0"/>
              <a:t>&lt;team&lt;métier)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3A1FF87A-2E2E-26EA-4CE9-442441630D74}"/>
              </a:ext>
            </a:extLst>
          </p:cNvPr>
          <p:cNvCxnSpPr/>
          <p:nvPr/>
        </p:nvCxnSpPr>
        <p:spPr>
          <a:xfrm>
            <a:off x="94488" y="3502152"/>
            <a:ext cx="12097512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4" name="Image 23">
            <a:extLst>
              <a:ext uri="{FF2B5EF4-FFF2-40B4-BE49-F238E27FC236}">
                <a16:creationId xmlns:a16="http://schemas.microsoft.com/office/drawing/2014/main" id="{F1432EF3-63AC-792F-95BF-511A884F4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6518" y="5586220"/>
            <a:ext cx="1385003" cy="779065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C455C163-CD7D-276D-6A73-F4F63C2C7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803" y="5586220"/>
            <a:ext cx="1385003" cy="779065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DDD711BF-E5AB-963A-272F-04DB419114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1139" y="5605295"/>
            <a:ext cx="1351094" cy="759990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E25F0DA6-C8A3-60C8-2670-4A0CCE3142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6854" y="5586220"/>
            <a:ext cx="1411459" cy="793946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3C92FAE5-221C-947D-DECF-EA77A33F410D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"/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44674455-F674-E4CA-6C83-4FAF4B8B7B19}"/>
              </a:ext>
            </a:extLst>
          </p:cNvPr>
          <p:cNvSpPr txBox="1"/>
          <p:nvPr/>
        </p:nvSpPr>
        <p:spPr>
          <a:xfrm>
            <a:off x="7780022" y="3012087"/>
            <a:ext cx="2862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 err="1"/>
              <a:t>Every</a:t>
            </a:r>
            <a:r>
              <a:rPr lang="fr-FR" i="1" dirty="0"/>
              <a:t> </a:t>
            </a:r>
            <a:r>
              <a:rPr lang="fr-FR" i="1" dirty="0" err="1"/>
              <a:t>blackbox</a:t>
            </a:r>
            <a:r>
              <a:rPr lang="fr-FR" i="1" dirty="0"/>
              <a:t> </a:t>
            </a:r>
            <a:r>
              <a:rPr lang="fr-FR" i="1" dirty="0" err="1"/>
              <a:t>is</a:t>
            </a:r>
            <a:r>
              <a:rPr lang="fr-FR" i="1" dirty="0"/>
              <a:t> a </a:t>
            </a:r>
            <a:r>
              <a:rPr lang="fr-FR" i="1" dirty="0" err="1"/>
              <a:t>liability</a:t>
            </a:r>
            <a:endParaRPr lang="fr-FR" i="1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4D551D80-6E6D-6F94-BE20-1E8F38097E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5662" y="336715"/>
            <a:ext cx="1974342" cy="4310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B6E1EBC0-34E4-C5DD-85B2-5317AD7210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3063" y="3712301"/>
            <a:ext cx="2385937" cy="6033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807979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EC126BDB-6F09-BA76-506E-8126DDB8D6B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703A346-6714-EF05-E561-81FD852C3B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4584" y="500571"/>
            <a:ext cx="9144000" cy="1099629"/>
          </a:xfrm>
        </p:spPr>
        <p:txBody>
          <a:bodyPr/>
          <a:lstStyle/>
          <a:p>
            <a:r>
              <a:rPr lang="fr-FR" dirty="0" err="1"/>
              <a:t>Testing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AI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B9811B4-1C80-6370-01A3-C38D7E113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64970"/>
            <a:ext cx="12192000" cy="31732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6684D5B-3B05-ADC4-6A4F-017A850E1A85}"/>
              </a:ext>
            </a:extLst>
          </p:cNvPr>
          <p:cNvSpPr/>
          <p:nvPr/>
        </p:nvSpPr>
        <p:spPr>
          <a:xfrm>
            <a:off x="8485632" y="3364992"/>
            <a:ext cx="987552" cy="429768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623B700-6A36-2106-DC6A-3583E4A553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2131" y="5573416"/>
            <a:ext cx="447737" cy="68589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96653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71D3A3D6-60E2-9AB6-FA83-7742C22AABE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905B6F87-4985-47EE-0C8D-989318AC6C7C}"/>
              </a:ext>
            </a:extLst>
          </p:cNvPr>
          <p:cNvSpPr txBox="1"/>
          <p:nvPr/>
        </p:nvSpPr>
        <p:spPr>
          <a:xfrm>
            <a:off x="2991612" y="3167390"/>
            <a:ext cx="6208776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800" dirty="0" err="1">
                <a:solidFill>
                  <a:schemeClr val="bg1"/>
                </a:solidFill>
                <a:latin typeface="Broadway" panose="04040905080B02020502" pitchFamily="82" charset="0"/>
              </a:rPr>
              <a:t>Thank</a:t>
            </a:r>
            <a:r>
              <a:rPr lang="fr-FR" sz="2800" dirty="0">
                <a:solidFill>
                  <a:schemeClr val="bg1"/>
                </a:solidFill>
                <a:latin typeface="Broadway" panose="04040905080B02020502" pitchFamily="82" charset="0"/>
              </a:rPr>
              <a:t> You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2FC7477-12AF-29F0-D0BE-3A4F44C15AFC}"/>
              </a:ext>
            </a:extLst>
          </p:cNvPr>
          <p:cNvSpPr txBox="1"/>
          <p:nvPr/>
        </p:nvSpPr>
        <p:spPr>
          <a:xfrm>
            <a:off x="8101584" y="6488667"/>
            <a:ext cx="4090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Gustave Mercier – Summer STEM </a:t>
            </a:r>
            <a:r>
              <a:rPr lang="fr-FR" dirty="0" err="1">
                <a:solidFill>
                  <a:schemeClr val="bg1"/>
                </a:solidFill>
              </a:rPr>
              <a:t>intern</a:t>
            </a: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72607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115</Words>
  <Application>Microsoft Office PowerPoint</Application>
  <PresentationFormat>Grand écran</PresentationFormat>
  <Paragraphs>23</Paragraphs>
  <Slides>7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Arial</vt:lpstr>
      <vt:lpstr>Broadway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Testing with AI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MERCIER Gustave</dc:creator>
  <cp:lastModifiedBy>MERCIER Gustave</cp:lastModifiedBy>
  <cp:revision>1</cp:revision>
  <dcterms:created xsi:type="dcterms:W3CDTF">2026-07-03T08:03:47Z</dcterms:created>
  <dcterms:modified xsi:type="dcterms:W3CDTF">2026-07-03T11:41:18Z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3b7177-c66c-4b22-a350-7ee86f9a1e74_Enabled">
    <vt:lpwstr>true</vt:lpwstr>
  </property>
  <property fmtid="{D5CDD505-2E9C-101B-9397-08002B2CF9AE}" pid="3" name="MSIP_Label_f43b7177-c66c-4b22-a350-7ee86f9a1e74_SetDate">
    <vt:lpwstr>2026-07-03T09:31:41Z</vt:lpwstr>
  </property>
  <property fmtid="{D5CDD505-2E9C-101B-9397-08002B2CF9AE}" pid="4" name="MSIP_Label_f43b7177-c66c-4b22-a350-7ee86f9a1e74_Method">
    <vt:lpwstr>Standard</vt:lpwstr>
  </property>
  <property fmtid="{D5CDD505-2E9C-101B-9397-08002B2CF9AE}" pid="5" name="MSIP_Label_f43b7177-c66c-4b22-a350-7ee86f9a1e74_Name">
    <vt:lpwstr>C1_Internal use</vt:lpwstr>
  </property>
  <property fmtid="{D5CDD505-2E9C-101B-9397-08002B2CF9AE}" pid="6" name="MSIP_Label_f43b7177-c66c-4b22-a350-7ee86f9a1e74_SiteId">
    <vt:lpwstr>e4e1abd9-eac7-4a71-ab52-da5c998aa7ba</vt:lpwstr>
  </property>
  <property fmtid="{D5CDD505-2E9C-101B-9397-08002B2CF9AE}" pid="7" name="MSIP_Label_f43b7177-c66c-4b22-a350-7ee86f9a1e74_ActionId">
    <vt:lpwstr>ce8cde7c-4ab1-4cd0-aaef-e084ee068174</vt:lpwstr>
  </property>
  <property fmtid="{D5CDD505-2E9C-101B-9397-08002B2CF9AE}" pid="8" name="MSIP_Label_f43b7177-c66c-4b22-a350-7ee86f9a1e74_ContentBits">
    <vt:lpwstr>2</vt:lpwstr>
  </property>
  <property fmtid="{D5CDD505-2E9C-101B-9397-08002B2CF9AE}" pid="9" name="MSIP_Label_f43b7177-c66c-4b22-a350-7ee86f9a1e74_Tag">
    <vt:lpwstr>10, 3, 0, 1</vt:lpwstr>
  </property>
  <property fmtid="{D5CDD505-2E9C-101B-9397-08002B2CF9AE}" pid="10" name="ClassificationContentMarkingFooterLocations">
    <vt:lpwstr>Thème Office:8</vt:lpwstr>
  </property>
  <property fmtid="{D5CDD505-2E9C-101B-9397-08002B2CF9AE}" pid="11" name="ClassificationContentMarkingFooterText">
    <vt:lpwstr>C1 - Internal use</vt:lpwstr>
  </property>
</Properties>
</file>